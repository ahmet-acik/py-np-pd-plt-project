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68" r:id="rId2"/>
    <p:sldId id="306" r:id="rId3"/>
    <p:sldId id="307" r:id="rId4"/>
    <p:sldId id="308" r:id="rId5"/>
    <p:sldId id="309" r:id="rId6"/>
    <p:sldId id="310" r:id="rId7"/>
    <p:sldId id="312" r:id="rId8"/>
    <p:sldId id="311" r:id="rId9"/>
    <p:sldId id="304" r:id="rId10"/>
    <p:sldId id="286" r:id="rId11"/>
    <p:sldId id="273" r:id="rId12"/>
    <p:sldId id="291" r:id="rId13"/>
    <p:sldId id="300" r:id="rId14"/>
    <p:sldId id="299" r:id="rId15"/>
    <p:sldId id="288" r:id="rId16"/>
    <p:sldId id="301" r:id="rId17"/>
    <p:sldId id="292" r:id="rId18"/>
    <p:sldId id="302" r:id="rId19"/>
    <p:sldId id="293" r:id="rId20"/>
    <p:sldId id="294" r:id="rId21"/>
    <p:sldId id="295" r:id="rId22"/>
    <p:sldId id="296" r:id="rId23"/>
    <p:sldId id="297" r:id="rId24"/>
    <p:sldId id="298" r:id="rId25"/>
    <p:sldId id="26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E0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34"/>
    <p:restoredTop sz="96327"/>
  </p:normalViewPr>
  <p:slideViewPr>
    <p:cSldViewPr snapToGrid="0">
      <p:cViewPr>
        <p:scale>
          <a:sx n="89" d="100"/>
          <a:sy n="89" d="100"/>
        </p:scale>
        <p:origin x="144" y="912"/>
      </p:cViewPr>
      <p:guideLst/>
    </p:cSldViewPr>
  </p:slideViewPr>
  <p:outlineViewPr>
    <p:cViewPr>
      <p:scale>
        <a:sx n="33" d="100"/>
        <a:sy n="33" d="100"/>
      </p:scale>
      <p:origin x="0" y="-56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2CF61-2A24-B946-A8C3-0D6CFD143B1D}" type="datetimeFigureOut">
              <a:rPr lang="en-US" smtClean="0"/>
              <a:t>6/27/25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FC31BB-F05B-834F-9B9B-E8821B548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15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body" idx="1"/>
          </p:nvPr>
        </p:nvSpPr>
        <p:spPr>
          <a:xfrm>
            <a:off x="906462" y="4678362"/>
            <a:ext cx="4987924" cy="44338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3" name="Shape 83"/>
          <p:cNvSpPr>
            <a:spLocks noGrp="1" noRot="1" noChangeAspect="1"/>
          </p:cNvSpPr>
          <p:nvPr>
            <p:ph type="sldImg" idx="2"/>
          </p:nvPr>
        </p:nvSpPr>
        <p:spPr>
          <a:xfrm>
            <a:off x="117475" y="738188"/>
            <a:ext cx="6565900" cy="36941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3504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F74014EA-3694-0B19-799F-BCCC7BCE7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>
            <a:extLst>
              <a:ext uri="{FF2B5EF4-FFF2-40B4-BE49-F238E27FC236}">
                <a16:creationId xmlns:a16="http://schemas.microsoft.com/office/drawing/2014/main" id="{BF598E56-460B-48D4-80F5-4C94CD4BEB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462" y="4678362"/>
            <a:ext cx="4987924" cy="44338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3" name="Shape 83">
            <a:extLst>
              <a:ext uri="{FF2B5EF4-FFF2-40B4-BE49-F238E27FC236}">
                <a16:creationId xmlns:a16="http://schemas.microsoft.com/office/drawing/2014/main" id="{5B6B18B1-469D-6E44-790A-60829A24D2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7475" y="738188"/>
            <a:ext cx="6565900" cy="36941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3284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0D2A975F-C7EF-3ECE-0512-D5244971F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>
            <a:extLst>
              <a:ext uri="{FF2B5EF4-FFF2-40B4-BE49-F238E27FC236}">
                <a16:creationId xmlns:a16="http://schemas.microsoft.com/office/drawing/2014/main" id="{CAA1F18B-10D0-696B-3BE8-24FDF0A240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462" y="4678362"/>
            <a:ext cx="4987924" cy="44338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3" name="Shape 83">
            <a:extLst>
              <a:ext uri="{FF2B5EF4-FFF2-40B4-BE49-F238E27FC236}">
                <a16:creationId xmlns:a16="http://schemas.microsoft.com/office/drawing/2014/main" id="{5ADF3DAB-8C85-6116-337D-AC2EF56675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7475" y="738188"/>
            <a:ext cx="6565900" cy="36941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8000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6C35D76B-4D91-545E-D584-1466FCE6A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>
            <a:extLst>
              <a:ext uri="{FF2B5EF4-FFF2-40B4-BE49-F238E27FC236}">
                <a16:creationId xmlns:a16="http://schemas.microsoft.com/office/drawing/2014/main" id="{6FD61EE9-4672-6F41-AF99-6C224D8CDF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462" y="4678362"/>
            <a:ext cx="4987924" cy="44338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3" name="Shape 83">
            <a:extLst>
              <a:ext uri="{FF2B5EF4-FFF2-40B4-BE49-F238E27FC236}">
                <a16:creationId xmlns:a16="http://schemas.microsoft.com/office/drawing/2014/main" id="{6BDD9388-34C0-FC14-1FE7-83CF62ADB2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7475" y="738188"/>
            <a:ext cx="6565900" cy="36941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9701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32B2C342-2DA4-1179-48A2-B4BBD3D64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>
            <a:extLst>
              <a:ext uri="{FF2B5EF4-FFF2-40B4-BE49-F238E27FC236}">
                <a16:creationId xmlns:a16="http://schemas.microsoft.com/office/drawing/2014/main" id="{E915D55E-CCF0-C931-FC7B-FBCB923B2C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462" y="4678362"/>
            <a:ext cx="4987924" cy="44338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3" name="Shape 83">
            <a:extLst>
              <a:ext uri="{FF2B5EF4-FFF2-40B4-BE49-F238E27FC236}">
                <a16:creationId xmlns:a16="http://schemas.microsoft.com/office/drawing/2014/main" id="{E7F77479-191F-35BB-D6FF-CB8F7AA3BE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7475" y="738188"/>
            <a:ext cx="6565900" cy="36941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5264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E944B032-18F0-2CAC-63AA-B2EB9C6D1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>
            <a:extLst>
              <a:ext uri="{FF2B5EF4-FFF2-40B4-BE49-F238E27FC236}">
                <a16:creationId xmlns:a16="http://schemas.microsoft.com/office/drawing/2014/main" id="{16A4EC35-1CCD-C67E-7C57-2D6B7569B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462" y="4678362"/>
            <a:ext cx="4987924" cy="44338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3" name="Shape 83">
            <a:extLst>
              <a:ext uri="{FF2B5EF4-FFF2-40B4-BE49-F238E27FC236}">
                <a16:creationId xmlns:a16="http://schemas.microsoft.com/office/drawing/2014/main" id="{69112B3D-B889-7A7A-77AD-2893B74598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7475" y="738188"/>
            <a:ext cx="6565900" cy="36941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668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2BB498C6-FA04-677A-90DD-1C05D4AD9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>
            <a:extLst>
              <a:ext uri="{FF2B5EF4-FFF2-40B4-BE49-F238E27FC236}">
                <a16:creationId xmlns:a16="http://schemas.microsoft.com/office/drawing/2014/main" id="{F970ADC7-0496-E172-892A-1BF4250394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462" y="4678362"/>
            <a:ext cx="4987924" cy="44338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3" name="Shape 83">
            <a:extLst>
              <a:ext uri="{FF2B5EF4-FFF2-40B4-BE49-F238E27FC236}">
                <a16:creationId xmlns:a16="http://schemas.microsoft.com/office/drawing/2014/main" id="{8E75FCFF-D3E1-DA32-6E40-254DDF21B2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7475" y="738188"/>
            <a:ext cx="6565900" cy="36941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01182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38AC8041-A12E-6069-6538-4BF41BE80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>
            <a:extLst>
              <a:ext uri="{FF2B5EF4-FFF2-40B4-BE49-F238E27FC236}">
                <a16:creationId xmlns:a16="http://schemas.microsoft.com/office/drawing/2014/main" id="{C694A4E0-C67D-F37C-EE83-3363BE65EE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462" y="4678362"/>
            <a:ext cx="4987924" cy="44338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3" name="Shape 83">
            <a:extLst>
              <a:ext uri="{FF2B5EF4-FFF2-40B4-BE49-F238E27FC236}">
                <a16:creationId xmlns:a16="http://schemas.microsoft.com/office/drawing/2014/main" id="{AC91919A-1516-28B0-F5C7-B699D3CB5D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7475" y="738188"/>
            <a:ext cx="6565900" cy="36941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1201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53AD5D39-4559-C014-344C-8C6268575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>
            <a:extLst>
              <a:ext uri="{FF2B5EF4-FFF2-40B4-BE49-F238E27FC236}">
                <a16:creationId xmlns:a16="http://schemas.microsoft.com/office/drawing/2014/main" id="{62BC29E1-C663-5A11-08C0-DE989EF9BD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462" y="4678362"/>
            <a:ext cx="4987924" cy="44338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3" name="Shape 83">
            <a:extLst>
              <a:ext uri="{FF2B5EF4-FFF2-40B4-BE49-F238E27FC236}">
                <a16:creationId xmlns:a16="http://schemas.microsoft.com/office/drawing/2014/main" id="{6BE19ACA-3ED1-82B8-CF86-D1FE74FD4F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7475" y="738188"/>
            <a:ext cx="6565900" cy="36941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31332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body" idx="1"/>
          </p:nvPr>
        </p:nvSpPr>
        <p:spPr>
          <a:xfrm>
            <a:off x="906462" y="4678362"/>
            <a:ext cx="4987924" cy="44338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3" name="Shape 83"/>
          <p:cNvSpPr>
            <a:spLocks noGrp="1" noRot="1" noChangeAspect="1"/>
          </p:cNvSpPr>
          <p:nvPr>
            <p:ph type="sldImg" idx="2"/>
          </p:nvPr>
        </p:nvSpPr>
        <p:spPr>
          <a:xfrm>
            <a:off x="117475" y="738188"/>
            <a:ext cx="6565900" cy="36941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16189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280"/>
          <p:cNvSpPr txBox="1">
            <a:spLocks noGrp="1"/>
          </p:cNvSpPr>
          <p:nvPr>
            <p:ph type="body" idx="1"/>
          </p:nvPr>
        </p:nvSpPr>
        <p:spPr>
          <a:xfrm>
            <a:off x="906462" y="4678362"/>
            <a:ext cx="4987924" cy="44338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281" name="Shape 281"/>
          <p:cNvSpPr>
            <a:spLocks noGrp="1" noRot="1" noChangeAspect="1"/>
          </p:cNvSpPr>
          <p:nvPr>
            <p:ph type="sldImg" idx="2"/>
          </p:nvPr>
        </p:nvSpPr>
        <p:spPr>
          <a:xfrm>
            <a:off x="117475" y="738188"/>
            <a:ext cx="6565900" cy="36941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05757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FC31BB-F05B-834F-9B9B-E8821B5480E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4528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body" idx="1"/>
          </p:nvPr>
        </p:nvSpPr>
        <p:spPr>
          <a:xfrm>
            <a:off x="906462" y="4678362"/>
            <a:ext cx="4987924" cy="44338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3" name="Shape 83"/>
          <p:cNvSpPr>
            <a:spLocks noGrp="1" noRot="1" noChangeAspect="1"/>
          </p:cNvSpPr>
          <p:nvPr>
            <p:ph type="sldImg" idx="2"/>
          </p:nvPr>
        </p:nvSpPr>
        <p:spPr>
          <a:xfrm>
            <a:off x="117475" y="738188"/>
            <a:ext cx="6565900" cy="36941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09012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body" idx="1"/>
          </p:nvPr>
        </p:nvSpPr>
        <p:spPr>
          <a:xfrm>
            <a:off x="906462" y="4678362"/>
            <a:ext cx="4987924" cy="44338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3" name="Shape 83"/>
          <p:cNvSpPr>
            <a:spLocks noGrp="1" noRot="1" noChangeAspect="1"/>
          </p:cNvSpPr>
          <p:nvPr>
            <p:ph type="sldImg" idx="2"/>
          </p:nvPr>
        </p:nvSpPr>
        <p:spPr>
          <a:xfrm>
            <a:off x="117475" y="738188"/>
            <a:ext cx="6565900" cy="36941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45140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body" idx="1"/>
          </p:nvPr>
        </p:nvSpPr>
        <p:spPr>
          <a:xfrm>
            <a:off x="906462" y="4678362"/>
            <a:ext cx="4987924" cy="44338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3" name="Shape 83"/>
          <p:cNvSpPr>
            <a:spLocks noGrp="1" noRot="1" noChangeAspect="1"/>
          </p:cNvSpPr>
          <p:nvPr>
            <p:ph type="sldImg" idx="2"/>
          </p:nvPr>
        </p:nvSpPr>
        <p:spPr>
          <a:xfrm>
            <a:off x="117475" y="738188"/>
            <a:ext cx="6565900" cy="36941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46370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body" idx="1"/>
          </p:nvPr>
        </p:nvSpPr>
        <p:spPr>
          <a:xfrm>
            <a:off x="906462" y="4678362"/>
            <a:ext cx="4987924" cy="44338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3" name="Shape 83"/>
          <p:cNvSpPr>
            <a:spLocks noGrp="1" noRot="1" noChangeAspect="1"/>
          </p:cNvSpPr>
          <p:nvPr>
            <p:ph type="sldImg" idx="2"/>
          </p:nvPr>
        </p:nvSpPr>
        <p:spPr>
          <a:xfrm>
            <a:off x="117475" y="738188"/>
            <a:ext cx="6565900" cy="36941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58269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body" idx="1"/>
          </p:nvPr>
        </p:nvSpPr>
        <p:spPr>
          <a:xfrm>
            <a:off x="906462" y="4678362"/>
            <a:ext cx="4987924" cy="44338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3" name="Shape 83"/>
          <p:cNvSpPr>
            <a:spLocks noGrp="1" noRot="1" noChangeAspect="1"/>
          </p:cNvSpPr>
          <p:nvPr>
            <p:ph type="sldImg" idx="2"/>
          </p:nvPr>
        </p:nvSpPr>
        <p:spPr>
          <a:xfrm>
            <a:off x="117475" y="738188"/>
            <a:ext cx="6565900" cy="36941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50719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body" idx="1"/>
          </p:nvPr>
        </p:nvSpPr>
        <p:spPr>
          <a:xfrm>
            <a:off x="906462" y="4678362"/>
            <a:ext cx="4987924" cy="44338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3" name="Shape 83"/>
          <p:cNvSpPr>
            <a:spLocks noGrp="1" noRot="1" noChangeAspect="1"/>
          </p:cNvSpPr>
          <p:nvPr>
            <p:ph type="sldImg" idx="2"/>
          </p:nvPr>
        </p:nvSpPr>
        <p:spPr>
          <a:xfrm>
            <a:off x="117475" y="738188"/>
            <a:ext cx="6565900" cy="36941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45166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body" idx="1"/>
          </p:nvPr>
        </p:nvSpPr>
        <p:spPr>
          <a:xfrm>
            <a:off x="906462" y="4678362"/>
            <a:ext cx="4987924" cy="44338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3" name="Shape 83"/>
          <p:cNvSpPr>
            <a:spLocks noGrp="1" noRot="1" noChangeAspect="1"/>
          </p:cNvSpPr>
          <p:nvPr>
            <p:ph type="sldImg" idx="2"/>
          </p:nvPr>
        </p:nvSpPr>
        <p:spPr>
          <a:xfrm>
            <a:off x="117475" y="738188"/>
            <a:ext cx="6565900" cy="36941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90305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body" idx="1"/>
          </p:nvPr>
        </p:nvSpPr>
        <p:spPr>
          <a:xfrm>
            <a:off x="906462" y="4678362"/>
            <a:ext cx="4987924" cy="44338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3" name="Shape 83"/>
          <p:cNvSpPr>
            <a:spLocks noGrp="1" noRot="1" noChangeAspect="1"/>
          </p:cNvSpPr>
          <p:nvPr>
            <p:ph type="sldImg" idx="2"/>
          </p:nvPr>
        </p:nvSpPr>
        <p:spPr>
          <a:xfrm>
            <a:off x="117475" y="738188"/>
            <a:ext cx="6565900" cy="36941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45827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body" idx="1"/>
          </p:nvPr>
        </p:nvSpPr>
        <p:spPr>
          <a:xfrm>
            <a:off x="906462" y="4678362"/>
            <a:ext cx="4987924" cy="44338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3" name="Shape 83"/>
          <p:cNvSpPr>
            <a:spLocks noGrp="1" noRot="1" noChangeAspect="1"/>
          </p:cNvSpPr>
          <p:nvPr>
            <p:ph type="sldImg" idx="2"/>
          </p:nvPr>
        </p:nvSpPr>
        <p:spPr>
          <a:xfrm>
            <a:off x="117475" y="738188"/>
            <a:ext cx="6565900" cy="36941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05077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body" idx="1"/>
          </p:nvPr>
        </p:nvSpPr>
        <p:spPr>
          <a:xfrm>
            <a:off x="906462" y="4678362"/>
            <a:ext cx="4987924" cy="44338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3" name="Shape 83"/>
          <p:cNvSpPr>
            <a:spLocks noGrp="1" noRot="1" noChangeAspect="1"/>
          </p:cNvSpPr>
          <p:nvPr>
            <p:ph type="sldImg" idx="2"/>
          </p:nvPr>
        </p:nvSpPr>
        <p:spPr>
          <a:xfrm>
            <a:off x="117475" y="738188"/>
            <a:ext cx="6565900" cy="36941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6162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04A1C-9E4B-4B82-A6B7-35B44FEF5474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452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2C996-65D1-F03C-0F5D-BE300FF0C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8278F8-2629-566E-1389-ACCBA3337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39344-3843-70A7-DB6C-E10E9875F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61EB-E9D0-384E-8915-96FE686FDDD7}" type="datetimeFigureOut">
              <a:rPr lang="en-US" smtClean="0"/>
              <a:t>6/27/25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79507-74EB-C347-9BE8-99154CE8E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748AF-ADC0-C373-3F28-051E3AC1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D1F12-DF7F-8E4A-9012-4D293B1F0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7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CC445-5873-F489-BFB4-91E945374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9A8CF-05E8-FF9C-C3BE-6BA4D52A3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E5C31-726F-982E-ED8E-35BC81428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61EB-E9D0-384E-8915-96FE686FDDD7}" type="datetimeFigureOut">
              <a:rPr lang="en-US" smtClean="0"/>
              <a:t>6/27/25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9B48C-4991-452F-BE92-B588F1582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5930A-9C2C-3480-A949-7A4FA24AF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D1F12-DF7F-8E4A-9012-4D293B1F0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387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6AC45-323E-D99F-2A41-7B3E68086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B5443-8726-6E5B-8136-F445B999B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F8DEB-4030-0575-C6C4-FE4CA0BC7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61EB-E9D0-384E-8915-96FE686FDDD7}" type="datetimeFigureOut">
              <a:rPr lang="en-US" smtClean="0"/>
              <a:t>6/27/25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54E23-9222-FCE8-8B27-1BF04A638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DA1D3-F548-99EC-5520-EB251C053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D1F12-DF7F-8E4A-9012-4D293B1F0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452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C7975-6E88-5D40-7375-C3D50953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CA677-555F-C081-357F-04DF1540D0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B2CB2D-95AB-E48D-DF60-7B661FFF3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F5EF2-507B-A509-FCAB-6B13F3527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61EB-E9D0-384E-8915-96FE686FDDD7}" type="datetimeFigureOut">
              <a:rPr lang="en-US" smtClean="0"/>
              <a:t>6/27/25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BB15A1-3040-8A4E-50C4-B7DB09ADD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B35CC3-52D2-89F2-73B8-6776A34CE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D1F12-DF7F-8E4A-9012-4D293B1F0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5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D366B-9FED-A7ED-1D80-C3EF1C036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80145E-FA36-9E0B-1138-E4D3E3298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15B364-6D45-BA20-7BE1-66A3FCF96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F467EB-D4AD-C3AE-CAC5-F15A371468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0BBB94-21F3-7F55-050F-863F78995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F623EB-4176-6C2B-82F2-388C42BEC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61EB-E9D0-384E-8915-96FE686FDDD7}" type="datetimeFigureOut">
              <a:rPr lang="en-US" smtClean="0"/>
              <a:t>6/27/25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06B6D-E160-C188-FE45-5BBBAAB0C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08CEAD-38F8-6D29-6CA6-BAD40B4A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D1F12-DF7F-8E4A-9012-4D293B1F0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900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B0167-ECE1-364B-F754-B09B72484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448F9C-9A8B-6EF4-7739-8DEDFB48B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61EB-E9D0-384E-8915-96FE686FDDD7}" type="datetimeFigureOut">
              <a:rPr lang="en-US" smtClean="0"/>
              <a:t>6/27/25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BF840-EBE8-2D35-5D61-E911AF307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9B0F3F-FDC2-BFB5-21B8-93E78E109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D1F12-DF7F-8E4A-9012-4D293B1F0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90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D1533A-C179-B2A4-FCC9-799E30CA6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61EB-E9D0-384E-8915-96FE686FDDD7}" type="datetimeFigureOut">
              <a:rPr lang="en-US" smtClean="0"/>
              <a:t>6/27/25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36B30A-65FF-B78E-6D67-6A6EB8F75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36C16-CB99-9E0E-605A-B390D0FBE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D1F12-DF7F-8E4A-9012-4D293B1F0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017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C1AF3-D45D-77E4-9808-35BCC4784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AFE74-7D6B-171D-0B59-DA29D1848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0682A-F0FA-0459-66A5-F26CABFF4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06C32-B26D-DBD1-15D3-BDEAB1822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61EB-E9D0-384E-8915-96FE686FDDD7}" type="datetimeFigureOut">
              <a:rPr lang="en-US" smtClean="0"/>
              <a:t>6/27/25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FC6A5-CBA3-CD6C-C32B-4E3C6AC7B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9AA34-0A2F-29D7-8422-517B8AD97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D1F12-DF7F-8E4A-9012-4D293B1F0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712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D3BBD-D626-66B6-9BA1-0F754730C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C3692B-D532-6FA6-2BE8-23A809E8E7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9463B7-4AD0-C298-3C6F-3F7F2226E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482837-04EF-55B1-B64B-D68CA3D16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61EB-E9D0-384E-8915-96FE686FDDD7}" type="datetimeFigureOut">
              <a:rPr lang="en-US" smtClean="0"/>
              <a:t>6/27/25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860EB6-5013-E268-D6DE-8C52962D5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EB4A1-4FFC-D9FE-4960-0763AB224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D1F12-DF7F-8E4A-9012-4D293B1F0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495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BF294-D536-37D8-8B13-6B465F087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69D4DD-9CAB-57C6-EDFD-7319B6C58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4FD29-1A09-BE89-088F-D10F98376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61EB-E9D0-384E-8915-96FE686FDDD7}" type="datetimeFigureOut">
              <a:rPr lang="en-US" smtClean="0"/>
              <a:t>6/27/25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C98E3-0252-2388-4180-E4F82A00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2759C-100E-8D8E-B00D-5F941A14C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D1F12-DF7F-8E4A-9012-4D293B1F0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315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00FC1D-1EA6-D21E-17A2-163A1A9D74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FFBD03-7EF2-E541-C3F4-E8A26F884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04741-2659-E565-27E0-DC7226482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61EB-E9D0-384E-8915-96FE686FDDD7}" type="datetimeFigureOut">
              <a:rPr lang="en-US" smtClean="0"/>
              <a:t>6/27/25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F5085-CD28-71F1-1C14-5CC251B2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91461-C026-2F1E-01F3-9C11BA1B8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D1F12-DF7F-8E4A-9012-4D293B1F0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64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3266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769CB1-27D6-C926-07B6-C6E104BAE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A4BA2-FDD5-6907-A720-6575D44EF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06F2C-93F6-AF56-453D-C3460A037E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BA61EB-E9D0-384E-8915-96FE686FDDD7}" type="datetimeFigureOut">
              <a:rPr lang="en-US" smtClean="0"/>
              <a:t>6/27/25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A57F3-852E-DBB0-6C49-BAB0C70B65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53425-2F90-C2E4-1C96-855849EEA9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ED1F12-DF7F-8E4A-9012-4D293B1F0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21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 txBox="1">
            <a:spLocks/>
          </p:cNvSpPr>
          <p:nvPr/>
        </p:nvSpPr>
        <p:spPr>
          <a:xfrm>
            <a:off x="1752600" y="584417"/>
            <a:ext cx="8229600" cy="118753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/>
              <a:t>Topic: </a:t>
            </a:r>
            <a:r>
              <a:rPr lang="en-GB" altLang="en-US" b="1" dirty="0"/>
              <a:t>Client-server and peer-to-peer networks</a:t>
            </a:r>
          </a:p>
          <a:p>
            <a:endParaRPr lang="en-GB" dirty="0"/>
          </a:p>
        </p:txBody>
      </p:sp>
      <p:pic>
        <p:nvPicPr>
          <p:cNvPr id="4" name="Google Shape;1437;p57">
            <a:extLst>
              <a:ext uri="{FF2B5EF4-FFF2-40B4-BE49-F238E27FC236}">
                <a16:creationId xmlns:a16="http://schemas.microsoft.com/office/drawing/2014/main" id="{925F6CDD-4B7F-86E6-9D3C-974E57AE9C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0537" y="2114370"/>
            <a:ext cx="4270926" cy="41592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854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E00AD0EE-03EF-E93B-9E8C-3897B483B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B25B618-DC42-46F9-EEF9-10AB37117475}"/>
              </a:ext>
            </a:extLst>
          </p:cNvPr>
          <p:cNvSpPr txBox="1">
            <a:spLocks/>
          </p:cNvSpPr>
          <p:nvPr/>
        </p:nvSpPr>
        <p:spPr>
          <a:xfrm>
            <a:off x="1847528" y="0"/>
            <a:ext cx="8460000" cy="97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4400" b="1">
                <a:solidFill>
                  <a:srgbClr val="A4CED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dirty="0"/>
              <a:t>How do computers talk to each </a:t>
            </a:r>
            <a:r>
              <a:rPr lang="en-GB"/>
              <a:t>other?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173FB-23DA-4868-6237-4EC61C2A4DDE}"/>
              </a:ext>
            </a:extLst>
          </p:cNvPr>
          <p:cNvSpPr txBox="1">
            <a:spLocks/>
          </p:cNvSpPr>
          <p:nvPr/>
        </p:nvSpPr>
        <p:spPr>
          <a:xfrm>
            <a:off x="1962728" y="1124744"/>
            <a:ext cx="8229600" cy="118753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/>
              <a:t>Topic: </a:t>
            </a:r>
            <a:r>
              <a:rPr lang="en-GB" altLang="en-US" b="1" dirty="0"/>
              <a:t>Client-server and peer-to-peer networks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63E846-35B4-35A9-C37A-3F5A888D73C5}"/>
              </a:ext>
            </a:extLst>
          </p:cNvPr>
          <p:cNvSpPr txBox="1"/>
          <p:nvPr/>
        </p:nvSpPr>
        <p:spPr>
          <a:xfrm>
            <a:off x="1962728" y="2465020"/>
            <a:ext cx="3842719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 b="1"/>
            </a:pPr>
            <a:r>
              <a:rPr sz="2400" dirty="0"/>
              <a:t>Let’s find out in 5 minutes!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07974D-1EB1-43DC-2DA3-D742A8BDB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1857" y="3356428"/>
            <a:ext cx="6107180" cy="310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4446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19DBB464-4D2E-E3F7-9601-F0FDDD469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5358C72-D087-39DA-E9D3-FC4DF5891FB4}"/>
              </a:ext>
            </a:extLst>
          </p:cNvPr>
          <p:cNvSpPr txBox="1">
            <a:spLocks/>
          </p:cNvSpPr>
          <p:nvPr/>
        </p:nvSpPr>
        <p:spPr>
          <a:xfrm>
            <a:off x="1847528" y="0"/>
            <a:ext cx="8460000" cy="97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4400" b="1">
                <a:solidFill>
                  <a:srgbClr val="A4CED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dirty="0"/>
              <a:t>How do computers talk to each </a:t>
            </a:r>
            <a:r>
              <a:rPr lang="en-GB"/>
              <a:t>other?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6F56FE-9F8C-F957-0CDF-3F30B6B3CB4C}"/>
              </a:ext>
            </a:extLst>
          </p:cNvPr>
          <p:cNvSpPr txBox="1"/>
          <p:nvPr/>
        </p:nvSpPr>
        <p:spPr>
          <a:xfrm>
            <a:off x="1847528" y="1512917"/>
            <a:ext cx="478688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rPr sz="3600" dirty="0"/>
              <a:t>Ever had this happen?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B34095-D65F-2E54-3FF3-508CA6FB58AB}"/>
              </a:ext>
            </a:extLst>
          </p:cNvPr>
          <p:cNvSpPr txBox="1"/>
          <p:nvPr/>
        </p:nvSpPr>
        <p:spPr>
          <a:xfrm>
            <a:off x="1847528" y="2500053"/>
            <a:ext cx="4423006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 b="1"/>
            </a:pPr>
            <a:r>
              <a:rPr sz="2400" dirty="0"/>
              <a:t>You can’t log in at school.</a:t>
            </a:r>
          </a:p>
          <a:p>
            <a:pPr>
              <a:defRPr sz="2400"/>
            </a:pPr>
            <a:r>
              <a:rPr sz="2400" dirty="0" err="1"/>
              <a:t>AirDrop</a:t>
            </a:r>
            <a:r>
              <a:rPr sz="2400" dirty="0"/>
              <a:t> works, but </a:t>
            </a:r>
            <a:r>
              <a:rPr sz="2400" dirty="0" err="1"/>
              <a:t>WiFi</a:t>
            </a:r>
            <a:r>
              <a:rPr sz="2400" dirty="0"/>
              <a:t> doesn’t.</a:t>
            </a:r>
          </a:p>
          <a:p>
            <a:pPr>
              <a:defRPr sz="2400"/>
            </a:pPr>
            <a:r>
              <a:rPr sz="2400" dirty="0"/>
              <a:t>Why is that?</a:t>
            </a:r>
          </a:p>
        </p:txBody>
      </p:sp>
      <p:pic>
        <p:nvPicPr>
          <p:cNvPr id="2050" name="Picture 2" descr="How to Fix Update Server Down Error in League of Legends on PC | Riot Games  Update Server Down Error - YouTube">
            <a:extLst>
              <a:ext uri="{FF2B5EF4-FFF2-40B4-BE49-F238E27FC236}">
                <a16:creationId xmlns:a16="http://schemas.microsoft.com/office/drawing/2014/main" id="{C3975D23-D963-BA8C-EDCC-57898B035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534" y="2732720"/>
            <a:ext cx="5635385" cy="3170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2643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A28C598D-B573-496F-79AC-A44CFED41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AB1E517-0DBE-3F69-9C80-C8790D3CEF7A}"/>
              </a:ext>
            </a:extLst>
          </p:cNvPr>
          <p:cNvSpPr txBox="1">
            <a:spLocks/>
          </p:cNvSpPr>
          <p:nvPr/>
        </p:nvSpPr>
        <p:spPr>
          <a:xfrm>
            <a:off x="1847528" y="0"/>
            <a:ext cx="8460000" cy="97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4400" b="1">
                <a:solidFill>
                  <a:srgbClr val="A4CED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dirty="0"/>
              <a:t>How do computers talk to each other?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CB12EA-8B0B-D108-72AA-6A40DF6BB439}"/>
              </a:ext>
            </a:extLst>
          </p:cNvPr>
          <p:cNvSpPr txBox="1"/>
          <p:nvPr/>
        </p:nvSpPr>
        <p:spPr>
          <a:xfrm>
            <a:off x="1847528" y="1190799"/>
            <a:ext cx="590257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rPr sz="3600" dirty="0"/>
              <a:t>Client-Server: School Login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59621E-7502-DAB6-60B3-934A63EB7F7C}"/>
              </a:ext>
            </a:extLst>
          </p:cNvPr>
          <p:cNvSpPr txBox="1"/>
          <p:nvPr/>
        </p:nvSpPr>
        <p:spPr>
          <a:xfrm>
            <a:off x="1847528" y="2055929"/>
            <a:ext cx="5219699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 b="1"/>
            </a:pPr>
            <a:r>
              <a:rPr sz="2400" dirty="0"/>
              <a:t>One big computer (server) in charge.</a:t>
            </a:r>
          </a:p>
          <a:p>
            <a:pPr>
              <a:defRPr sz="2400"/>
            </a:pPr>
            <a:r>
              <a:rPr sz="2400" dirty="0"/>
              <a:t>You ask, it gives access.</a:t>
            </a:r>
          </a:p>
          <a:p>
            <a:pPr>
              <a:defRPr sz="2400"/>
            </a:pPr>
            <a:r>
              <a:rPr sz="2400" dirty="0"/>
              <a:t>Secure, but if it fails—no one gets in!</a:t>
            </a:r>
          </a:p>
        </p:txBody>
      </p:sp>
      <p:pic>
        <p:nvPicPr>
          <p:cNvPr id="8" name="Picture 7" descr="A computer server connected to a client&#10;&#10;AI-generated content may be incorrect.">
            <a:extLst>
              <a:ext uri="{FF2B5EF4-FFF2-40B4-BE49-F238E27FC236}">
                <a16:creationId xmlns:a16="http://schemas.microsoft.com/office/drawing/2014/main" id="{BE3B7DBE-E252-D1E2-CA12-40B92E76B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847" y="2246393"/>
            <a:ext cx="5041900" cy="368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888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DF83A3DB-1AE4-8908-7995-C956ECD82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6998344-7E1F-4A3A-3E59-223753C7E47E}"/>
              </a:ext>
            </a:extLst>
          </p:cNvPr>
          <p:cNvSpPr txBox="1">
            <a:spLocks/>
          </p:cNvSpPr>
          <p:nvPr/>
        </p:nvSpPr>
        <p:spPr>
          <a:xfrm>
            <a:off x="1847528" y="0"/>
            <a:ext cx="8460000" cy="97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4400" b="1">
                <a:solidFill>
                  <a:srgbClr val="A4CED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dirty="0"/>
              <a:t>How do computers talk to each </a:t>
            </a:r>
            <a:r>
              <a:rPr lang="en-GB"/>
              <a:t>other?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0214D8-91D4-BD3B-961B-E3D2B437EBC3}"/>
              </a:ext>
            </a:extLst>
          </p:cNvPr>
          <p:cNvSpPr txBox="1"/>
          <p:nvPr/>
        </p:nvSpPr>
        <p:spPr>
          <a:xfrm>
            <a:off x="1847528" y="1284317"/>
            <a:ext cx="560602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rPr sz="3600" dirty="0"/>
              <a:t>Peer-to-Peer: Like </a:t>
            </a:r>
            <a:r>
              <a:rPr sz="3600" dirty="0" err="1"/>
              <a:t>AirDrop</a:t>
            </a:r>
            <a:endParaRPr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0996C7-2CAE-73E6-4361-04DF044A8882}"/>
              </a:ext>
            </a:extLst>
          </p:cNvPr>
          <p:cNvSpPr txBox="1"/>
          <p:nvPr/>
        </p:nvSpPr>
        <p:spPr>
          <a:xfrm>
            <a:off x="1847529" y="2198716"/>
            <a:ext cx="4055919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 b="1"/>
            </a:pPr>
            <a:r>
              <a:rPr sz="2400" dirty="0"/>
              <a:t>No boss—everyone’s equal.</a:t>
            </a:r>
          </a:p>
          <a:p>
            <a:pPr>
              <a:defRPr sz="2400"/>
            </a:pPr>
            <a:r>
              <a:rPr sz="2400" dirty="0"/>
              <a:t>Share files directly.</a:t>
            </a:r>
          </a:p>
          <a:p>
            <a:pPr>
              <a:defRPr sz="2400"/>
            </a:pPr>
            <a:r>
              <a:rPr sz="2400" dirty="0"/>
              <a:t>Fast, but less secure.</a:t>
            </a:r>
          </a:p>
        </p:txBody>
      </p:sp>
      <p:pic>
        <p:nvPicPr>
          <p:cNvPr id="8" name="Picture 7" descr="A diagram of laptops connected to a server&#10;&#10;AI-generated content may be incorrect.">
            <a:extLst>
              <a:ext uri="{FF2B5EF4-FFF2-40B4-BE49-F238E27FC236}">
                <a16:creationId xmlns:a16="http://schemas.microsoft.com/office/drawing/2014/main" id="{DCE8AFCE-B387-ACC1-7D6F-A06BE4E6C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554" y="2767353"/>
            <a:ext cx="5118100" cy="33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323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2E14BD6C-EC98-BA2B-4B99-53A0EEB87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0FBE8E3-E82C-1D38-1FCF-DBE37CF1AAA1}"/>
              </a:ext>
            </a:extLst>
          </p:cNvPr>
          <p:cNvSpPr txBox="1">
            <a:spLocks/>
          </p:cNvSpPr>
          <p:nvPr/>
        </p:nvSpPr>
        <p:spPr>
          <a:xfrm>
            <a:off x="219216" y="65837"/>
            <a:ext cx="8211861" cy="97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4400" b="1">
                <a:solidFill>
                  <a:srgbClr val="A4CED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dirty="0"/>
              <a:t>How do computers talk to each other?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414D4C-A8EF-EBE8-64B5-0218408490C1}"/>
              </a:ext>
            </a:extLst>
          </p:cNvPr>
          <p:cNvSpPr txBox="1"/>
          <p:nvPr/>
        </p:nvSpPr>
        <p:spPr>
          <a:xfrm>
            <a:off x="1970809" y="1419400"/>
            <a:ext cx="357181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rPr sz="3600" dirty="0"/>
              <a:t>Which is which?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4A8FCC-72D6-1E0D-69B9-BFF764C15EFC}"/>
              </a:ext>
            </a:extLst>
          </p:cNvPr>
          <p:cNvSpPr txBox="1"/>
          <p:nvPr/>
        </p:nvSpPr>
        <p:spPr>
          <a:xfrm>
            <a:off x="1970810" y="2333800"/>
            <a:ext cx="3070071" cy="18466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 b="1"/>
            </a:pPr>
            <a:r>
              <a:rPr sz="2400" dirty="0"/>
              <a:t>1. School login?</a:t>
            </a:r>
          </a:p>
          <a:p>
            <a:pPr>
              <a:defRPr sz="2400"/>
            </a:pPr>
            <a:r>
              <a:rPr sz="2400" dirty="0"/>
              <a:t>2. </a:t>
            </a:r>
            <a:r>
              <a:rPr sz="2400" dirty="0" err="1"/>
              <a:t>AirDrop</a:t>
            </a:r>
            <a:r>
              <a:rPr sz="2400" dirty="0"/>
              <a:t>?</a:t>
            </a:r>
          </a:p>
          <a:p>
            <a:pPr>
              <a:defRPr sz="2400"/>
            </a:pPr>
            <a:r>
              <a:rPr sz="2400" dirty="0"/>
              <a:t>3. Minecraft LAN?</a:t>
            </a:r>
          </a:p>
          <a:p>
            <a:pPr>
              <a:defRPr sz="2400"/>
            </a:pPr>
            <a:r>
              <a:rPr sz="2400" dirty="0"/>
              <a:t>Hold up 1 or 2 fingers!</a:t>
            </a:r>
          </a:p>
        </p:txBody>
      </p:sp>
      <p:pic>
        <p:nvPicPr>
          <p:cNvPr id="1026" name="Picture 2" descr="How to Fix Minecraft LAN not Working? Here's the Guide - MiniTool Partition  Wizard">
            <a:extLst>
              <a:ext uri="{FF2B5EF4-FFF2-40B4-BE49-F238E27FC236}">
                <a16:creationId xmlns:a16="http://schemas.microsoft.com/office/drawing/2014/main" id="{7CA28D5C-0E60-0981-837E-C2698E07E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815" y="340414"/>
            <a:ext cx="2769989" cy="1846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AirDrop and How Does It Work?">
            <a:extLst>
              <a:ext uri="{FF2B5EF4-FFF2-40B4-BE49-F238E27FC236}">
                <a16:creationId xmlns:a16="http://schemas.microsoft.com/office/drawing/2014/main" id="{D7FA51D5-7B92-E7B0-BA8F-10F03DFB7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815" y="2333800"/>
            <a:ext cx="2852917" cy="1846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lp | Sing Up">
            <a:extLst>
              <a:ext uri="{FF2B5EF4-FFF2-40B4-BE49-F238E27FC236}">
                <a16:creationId xmlns:a16="http://schemas.microsoft.com/office/drawing/2014/main" id="{F9C5829E-F9FF-6B8D-047A-118285843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815" y="4327186"/>
            <a:ext cx="2852917" cy="2315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3433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DB0DBE23-81EF-03A5-64AC-7EB16082D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C9C40B2-9E6C-6090-0804-B8D3787CF6F9}"/>
              </a:ext>
            </a:extLst>
          </p:cNvPr>
          <p:cNvSpPr txBox="1">
            <a:spLocks/>
          </p:cNvSpPr>
          <p:nvPr/>
        </p:nvSpPr>
        <p:spPr>
          <a:xfrm>
            <a:off x="1847528" y="0"/>
            <a:ext cx="8460000" cy="97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4400" b="1">
                <a:solidFill>
                  <a:srgbClr val="A4CED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dirty="0"/>
              <a:t>How do computers talk to each </a:t>
            </a:r>
            <a:r>
              <a:rPr lang="en-GB"/>
              <a:t>other?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E8DCB7-BF47-0AFF-320E-35F1DD4DF2AA}"/>
              </a:ext>
            </a:extLst>
          </p:cNvPr>
          <p:cNvSpPr txBox="1"/>
          <p:nvPr/>
        </p:nvSpPr>
        <p:spPr>
          <a:xfrm>
            <a:off x="1847528" y="1284317"/>
            <a:ext cx="611019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rPr lang="en-GB" sz="3600" dirty="0"/>
              <a:t>Similarities and Differences </a:t>
            </a:r>
            <a:endParaRPr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B2FA82-DA44-F3D5-0B96-A608412EAE7A}"/>
              </a:ext>
            </a:extLst>
          </p:cNvPr>
          <p:cNvSpPr txBox="1"/>
          <p:nvPr/>
        </p:nvSpPr>
        <p:spPr>
          <a:xfrm>
            <a:off x="1847529" y="2413337"/>
            <a:ext cx="424847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Client-Server Model</a:t>
            </a:r>
          </a:p>
          <a:p>
            <a:r>
              <a:rPr lang="en-GB" b="1" dirty="0"/>
              <a:t>Advantages:</a:t>
            </a:r>
            <a:r>
              <a:rPr lang="en-GB" dirty="0"/>
              <a:t> Centralized control, scalability, reliability</a:t>
            </a:r>
            <a:br>
              <a:rPr lang="en-GB" dirty="0"/>
            </a:br>
            <a:r>
              <a:rPr lang="en-GB" b="1" dirty="0"/>
              <a:t>Disadvantages:</a:t>
            </a:r>
            <a:r>
              <a:rPr lang="en-GB" dirty="0"/>
              <a:t> Single point of failure, higher cost, infrastructure needs</a:t>
            </a:r>
            <a:br>
              <a:rPr lang="en-GB" dirty="0"/>
            </a:br>
            <a:r>
              <a:rPr lang="en-GB" b="1" dirty="0"/>
              <a:t>Real-world examples:</a:t>
            </a:r>
            <a:r>
              <a:rPr lang="en-GB" dirty="0"/>
              <a:t> Google Drive, Spotify, Microsoft Teams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A72E1-EB8D-F64F-F1C4-F88A76D38AC0}"/>
              </a:ext>
            </a:extLst>
          </p:cNvPr>
          <p:cNvSpPr txBox="1"/>
          <p:nvPr/>
        </p:nvSpPr>
        <p:spPr>
          <a:xfrm>
            <a:off x="6236495" y="2413337"/>
            <a:ext cx="503904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Peer-to-Peer (P2P) Model</a:t>
            </a:r>
          </a:p>
          <a:p>
            <a:r>
              <a:rPr lang="en-GB" b="1" dirty="0"/>
              <a:t>Advantages:</a:t>
            </a:r>
            <a:r>
              <a:rPr lang="en-GB" dirty="0"/>
              <a:t> No central server, cost-effective, natural scaling</a:t>
            </a:r>
            <a:br>
              <a:rPr lang="en-GB" dirty="0"/>
            </a:br>
            <a:r>
              <a:rPr lang="en-GB" b="1" dirty="0"/>
              <a:t>Disadvantages:</a:t>
            </a:r>
            <a:r>
              <a:rPr lang="en-GB" dirty="0"/>
              <a:t> Less secure, harder to manage, performance issues at scale</a:t>
            </a:r>
            <a:br>
              <a:rPr lang="en-GB" dirty="0"/>
            </a:br>
            <a:r>
              <a:rPr lang="en-GB" b="1" dirty="0"/>
              <a:t>Real-world examples:</a:t>
            </a:r>
            <a:r>
              <a:rPr lang="en-GB" dirty="0"/>
              <a:t> BitTorrent, </a:t>
            </a:r>
            <a:r>
              <a:rPr lang="en-GB" dirty="0" err="1"/>
              <a:t>AirDrop</a:t>
            </a:r>
            <a:r>
              <a:rPr lang="en-GB" dirty="0"/>
              <a:t>, LAN gaming</a:t>
            </a:r>
          </a:p>
        </p:txBody>
      </p:sp>
    </p:spTree>
    <p:extLst>
      <p:ext uri="{BB962C8B-B14F-4D97-AF65-F5344CB8AC3E}">
        <p14:creationId xmlns:p14="http://schemas.microsoft.com/office/powerpoint/2010/main" val="1285932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068B8A52-FF22-FB99-8FD3-E43D86080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D058FE2-D201-B861-8B85-2687CB072C02}"/>
              </a:ext>
            </a:extLst>
          </p:cNvPr>
          <p:cNvSpPr txBox="1">
            <a:spLocks/>
          </p:cNvSpPr>
          <p:nvPr/>
        </p:nvSpPr>
        <p:spPr>
          <a:xfrm>
            <a:off x="1847528" y="0"/>
            <a:ext cx="8460000" cy="97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4400" b="1">
                <a:solidFill>
                  <a:srgbClr val="A4CED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dirty="0"/>
              <a:t>How do computers talk to each other?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04EF32-DDAF-FE69-6609-FB9EE8A222BF}"/>
              </a:ext>
            </a:extLst>
          </p:cNvPr>
          <p:cNvSpPr txBox="1"/>
          <p:nvPr/>
        </p:nvSpPr>
        <p:spPr>
          <a:xfrm>
            <a:off x="1991591" y="1357054"/>
            <a:ext cx="235192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rPr sz="3600" dirty="0"/>
              <a:t>Why care?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0F9452-E579-BB3A-2E16-C6EAE9726229}"/>
              </a:ext>
            </a:extLst>
          </p:cNvPr>
          <p:cNvSpPr txBox="1"/>
          <p:nvPr/>
        </p:nvSpPr>
        <p:spPr>
          <a:xfrm>
            <a:off x="1991591" y="2271453"/>
            <a:ext cx="4775666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 b="1"/>
            </a:pPr>
            <a:r>
              <a:rPr sz="2400" dirty="0"/>
              <a:t>Pick the right network for the job.</a:t>
            </a:r>
          </a:p>
          <a:p>
            <a:pPr>
              <a:defRPr sz="2400"/>
            </a:pPr>
            <a:r>
              <a:rPr sz="2400" dirty="0"/>
              <a:t>Stay safe online.</a:t>
            </a:r>
          </a:p>
          <a:p>
            <a:pPr>
              <a:defRPr sz="2400"/>
            </a:pPr>
            <a:r>
              <a:rPr sz="2400" dirty="0"/>
              <a:t>You’re the next IT expert!</a:t>
            </a:r>
          </a:p>
        </p:txBody>
      </p:sp>
      <p:pic>
        <p:nvPicPr>
          <p:cNvPr id="3074" name="Picture 2" descr="Upskilling Senior Software Engineers into Team Managers - CoderPad">
            <a:extLst>
              <a:ext uri="{FF2B5EF4-FFF2-40B4-BE49-F238E27FC236}">
                <a16:creationId xmlns:a16="http://schemas.microsoft.com/office/drawing/2014/main" id="{1B0C1584-25EE-47A6-AE57-C9AFBF0B3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7257" y="2671504"/>
            <a:ext cx="5120086" cy="3414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21725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3783EEAB-8D58-F0CC-5F42-0F46F3A6C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B2FC486-48C2-D3C6-851B-C398BE0A0E4C}"/>
              </a:ext>
            </a:extLst>
          </p:cNvPr>
          <p:cNvSpPr txBox="1">
            <a:spLocks/>
          </p:cNvSpPr>
          <p:nvPr/>
        </p:nvSpPr>
        <p:spPr>
          <a:xfrm>
            <a:off x="1866000" y="270164"/>
            <a:ext cx="8460000" cy="97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4400" b="1">
                <a:solidFill>
                  <a:srgbClr val="DA8AA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A4CEDC"/>
                </a:solidFill>
              </a:rPr>
              <a:t>Big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154A3-3A7D-3BF8-F06F-EDB44AFBEE2F}"/>
              </a:ext>
            </a:extLst>
          </p:cNvPr>
          <p:cNvSpPr txBox="1">
            <a:spLocks/>
          </p:cNvSpPr>
          <p:nvPr/>
        </p:nvSpPr>
        <p:spPr>
          <a:xfrm>
            <a:off x="1962728" y="1124744"/>
            <a:ext cx="8229600" cy="427765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Consider this:</a:t>
            </a:r>
          </a:p>
          <a:p>
            <a:endParaRPr lang="en-GB" dirty="0"/>
          </a:p>
          <a:p>
            <a:r>
              <a:rPr lang="en-GB" dirty="0"/>
              <a:t>If you save your work on a laptop, then want to work on it at school – how do you get to the file?</a:t>
            </a:r>
          </a:p>
          <a:p>
            <a:r>
              <a:rPr lang="en-GB" dirty="0"/>
              <a:t>Should you save all of your work in one central location, or save your work on the device where you are working on it?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09822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5B11C5E-658A-4D80-B6F8-8E06211542EE}"/>
              </a:ext>
            </a:extLst>
          </p:cNvPr>
          <p:cNvSpPr txBox="1">
            <a:spLocks/>
          </p:cNvSpPr>
          <p:nvPr/>
        </p:nvSpPr>
        <p:spPr>
          <a:xfrm>
            <a:off x="1847528" y="0"/>
            <a:ext cx="8460000" cy="97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4400" b="1">
                <a:solidFill>
                  <a:srgbClr val="DA8AA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A4CEDC"/>
                </a:solidFill>
              </a:rPr>
              <a:t>Learning objectives</a:t>
            </a:r>
          </a:p>
        </p:txBody>
      </p:sp>
      <p:sp>
        <p:nvSpPr>
          <p:cNvPr id="3" name="Text Placeholder 2"/>
          <p:cNvSpPr txBox="1">
            <a:spLocks/>
          </p:cNvSpPr>
          <p:nvPr/>
        </p:nvSpPr>
        <p:spPr>
          <a:xfrm>
            <a:off x="1962728" y="1052736"/>
            <a:ext cx="8229600" cy="427765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Understand what is meant by a client-server network</a:t>
            </a:r>
          </a:p>
          <a:p>
            <a:r>
              <a:rPr lang="en-GB" dirty="0"/>
              <a:t>Understand what is meant by a peer-to-peer network</a:t>
            </a:r>
          </a:p>
          <a:p>
            <a:r>
              <a:rPr lang="en-GB" dirty="0"/>
              <a:t>Understand similarities and differences between these models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1768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1">
            <a:extLst>
              <a:ext uri="{FF2B5EF4-FFF2-40B4-BE49-F238E27FC236}">
                <a16:creationId xmlns:a16="http://schemas.microsoft.com/office/drawing/2014/main" id="{B2BB143B-2229-4C7C-8CC0-CAD42392188E}"/>
              </a:ext>
            </a:extLst>
          </p:cNvPr>
          <p:cNvSpPr txBox="1">
            <a:spLocks/>
          </p:cNvSpPr>
          <p:nvPr/>
        </p:nvSpPr>
        <p:spPr>
          <a:xfrm>
            <a:off x="1847528" y="0"/>
            <a:ext cx="8460000" cy="97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4400" b="1">
                <a:solidFill>
                  <a:srgbClr val="DA8AA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A4CEDC"/>
                </a:solidFill>
              </a:rPr>
              <a:t>Engagement activity</a:t>
            </a:r>
          </a:p>
        </p:txBody>
      </p:sp>
      <p:sp>
        <p:nvSpPr>
          <p:cNvPr id="3" name="Text Placeholder 2"/>
          <p:cNvSpPr txBox="1">
            <a:spLocks/>
          </p:cNvSpPr>
          <p:nvPr/>
        </p:nvSpPr>
        <p:spPr>
          <a:xfrm>
            <a:off x="1962728" y="1196752"/>
            <a:ext cx="8229600" cy="427765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In a restaurant, what is the role of the server?</a:t>
            </a:r>
            <a:br>
              <a:rPr lang="en-GB" dirty="0"/>
            </a:br>
            <a:endParaRPr lang="en-GB" dirty="0"/>
          </a:p>
          <a:p>
            <a:r>
              <a:rPr lang="en-GB" dirty="0"/>
              <a:t>What is the role of the customer/client?</a:t>
            </a:r>
            <a:br>
              <a:rPr lang="en-GB" dirty="0"/>
            </a:br>
            <a:endParaRPr lang="en-GB" dirty="0"/>
          </a:p>
          <a:p>
            <a:r>
              <a:rPr lang="en-GB" dirty="0"/>
              <a:t>How would a restaurant be different if everyone could fulfil every role – including the customers?</a:t>
            </a:r>
          </a:p>
        </p:txBody>
      </p:sp>
    </p:spTree>
    <p:extLst>
      <p:ext uri="{BB962C8B-B14F-4D97-AF65-F5344CB8AC3E}">
        <p14:creationId xmlns:p14="http://schemas.microsoft.com/office/powerpoint/2010/main" val="343985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5B0238F7-2510-4F78-B062-E3501E7202CC}"/>
              </a:ext>
            </a:extLst>
          </p:cNvPr>
          <p:cNvSpPr txBox="1">
            <a:spLocks/>
          </p:cNvSpPr>
          <p:nvPr/>
        </p:nvSpPr>
        <p:spPr>
          <a:xfrm>
            <a:off x="1847528" y="0"/>
            <a:ext cx="8460000" cy="97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4400" b="1">
                <a:solidFill>
                  <a:srgbClr val="DA8AA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A4CEDC"/>
                </a:solidFill>
              </a:rPr>
              <a:t>Keywords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idx="1"/>
          </p:nvPr>
        </p:nvSpPr>
        <p:spPr>
          <a:xfrm>
            <a:off x="2070757" y="1124744"/>
            <a:ext cx="8229600" cy="4277652"/>
          </a:xfrm>
        </p:spPr>
        <p:txBody>
          <a:bodyPr/>
          <a:lstStyle/>
          <a:p>
            <a:r>
              <a:rPr lang="en-GB" dirty="0"/>
              <a:t>Client</a:t>
            </a:r>
          </a:p>
          <a:p>
            <a:r>
              <a:rPr lang="en-GB" dirty="0"/>
              <a:t>Server</a:t>
            </a:r>
          </a:p>
          <a:p>
            <a:r>
              <a:rPr lang="en-GB" dirty="0"/>
              <a:t>Peer</a:t>
            </a:r>
          </a:p>
        </p:txBody>
      </p:sp>
    </p:spTree>
    <p:extLst>
      <p:ext uri="{BB962C8B-B14F-4D97-AF65-F5344CB8AC3E}">
        <p14:creationId xmlns:p14="http://schemas.microsoft.com/office/powerpoint/2010/main" val="27876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5B0238F7-2510-4F78-B062-E3501E7202CC}"/>
              </a:ext>
            </a:extLst>
          </p:cNvPr>
          <p:cNvSpPr txBox="1">
            <a:spLocks/>
          </p:cNvSpPr>
          <p:nvPr/>
        </p:nvSpPr>
        <p:spPr>
          <a:xfrm>
            <a:off x="1847528" y="0"/>
            <a:ext cx="8460000" cy="97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4400" b="1">
                <a:solidFill>
                  <a:srgbClr val="DA8AA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A4CEDC"/>
                </a:solidFill>
              </a:rPr>
              <a:t>Activity 1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idx="1"/>
          </p:nvPr>
        </p:nvSpPr>
        <p:spPr>
          <a:xfrm>
            <a:off x="2070757" y="1124744"/>
            <a:ext cx="8229600" cy="4824536"/>
          </a:xfrm>
        </p:spPr>
        <p:txBody>
          <a:bodyPr>
            <a:normAutofit/>
          </a:bodyPr>
          <a:lstStyle/>
          <a:p>
            <a:pPr lvl="0"/>
            <a:r>
              <a:rPr lang="en-GB" dirty="0"/>
              <a:t>How would you define the following words?</a:t>
            </a:r>
          </a:p>
          <a:p>
            <a:pPr lvl="0"/>
            <a:r>
              <a:rPr lang="en-GB" dirty="0"/>
              <a:t>Client</a:t>
            </a:r>
          </a:p>
          <a:p>
            <a:pPr lvl="1"/>
            <a:r>
              <a:rPr lang="en" dirty="0">
                <a:solidFill>
                  <a:schemeClr val="bg1"/>
                </a:solidFill>
              </a:rPr>
              <a:t>A device capable of obtaining information from a server</a:t>
            </a:r>
            <a:endParaRPr lang="en-GB" dirty="0">
              <a:solidFill>
                <a:schemeClr val="bg1"/>
              </a:solidFill>
            </a:endParaRPr>
          </a:p>
          <a:p>
            <a:pPr lvl="0"/>
            <a:r>
              <a:rPr lang="en-GB" dirty="0"/>
              <a:t>Server</a:t>
            </a:r>
          </a:p>
          <a:p>
            <a:pPr lvl="1"/>
            <a:r>
              <a:rPr lang="en" dirty="0">
                <a:solidFill>
                  <a:schemeClr val="bg1"/>
                </a:solidFill>
              </a:rPr>
              <a:t>A computer which manages access to a centralised resource</a:t>
            </a:r>
            <a:endParaRPr lang="en-GB" dirty="0">
              <a:solidFill>
                <a:schemeClr val="bg1"/>
              </a:solidFill>
            </a:endParaRPr>
          </a:p>
          <a:p>
            <a:pPr lvl="0"/>
            <a:r>
              <a:rPr lang="en-GB" dirty="0"/>
              <a:t>Peer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Someone / something of the same status or ability</a:t>
            </a:r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952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5B0238F7-2510-4F78-B062-E3501E7202CC}"/>
              </a:ext>
            </a:extLst>
          </p:cNvPr>
          <p:cNvSpPr txBox="1">
            <a:spLocks/>
          </p:cNvSpPr>
          <p:nvPr/>
        </p:nvSpPr>
        <p:spPr>
          <a:xfrm>
            <a:off x="1847528" y="0"/>
            <a:ext cx="8460000" cy="97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4400" b="1">
                <a:solidFill>
                  <a:srgbClr val="DA8AA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A4CEDC"/>
                </a:solidFill>
              </a:rPr>
              <a:t>Activity 1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idx="1"/>
          </p:nvPr>
        </p:nvSpPr>
        <p:spPr>
          <a:xfrm>
            <a:off x="2070757" y="1124744"/>
            <a:ext cx="8229600" cy="4824536"/>
          </a:xfrm>
        </p:spPr>
        <p:txBody>
          <a:bodyPr>
            <a:normAutofit/>
          </a:bodyPr>
          <a:lstStyle/>
          <a:p>
            <a:pPr lvl="0"/>
            <a:r>
              <a:rPr lang="en-GB" dirty="0"/>
              <a:t>How would you define the following words?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GB" dirty="0"/>
              <a:t> Client</a:t>
            </a:r>
          </a:p>
          <a:p>
            <a:pPr lvl="1"/>
            <a:r>
              <a:rPr lang="en" dirty="0">
                <a:solidFill>
                  <a:srgbClr val="FF0000"/>
                </a:solidFill>
              </a:rPr>
              <a:t>A device capable of obtaining information from a server.</a:t>
            </a:r>
            <a:endParaRPr lang="en-GB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GB" dirty="0"/>
              <a:t> Server</a:t>
            </a:r>
          </a:p>
          <a:p>
            <a:pPr lvl="1"/>
            <a:r>
              <a:rPr lang="en" dirty="0">
                <a:solidFill>
                  <a:srgbClr val="FF0000"/>
                </a:solidFill>
              </a:rPr>
              <a:t>A computer which manages access to a centralised resource.</a:t>
            </a:r>
            <a:endParaRPr lang="en-GB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GB" dirty="0"/>
              <a:t> Peer</a:t>
            </a:r>
          </a:p>
          <a:p>
            <a:pPr lvl="1"/>
            <a:r>
              <a:rPr lang="en-GB" dirty="0">
                <a:solidFill>
                  <a:srgbClr val="FF0000"/>
                </a:solidFill>
              </a:rPr>
              <a:t>Someone/something of the same status or ability.</a:t>
            </a:r>
            <a:endParaRPr lang="e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5594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EB0390B-57BB-4363-86A2-B7AB175ACB3A}"/>
              </a:ext>
            </a:extLst>
          </p:cNvPr>
          <p:cNvSpPr txBox="1">
            <a:spLocks/>
          </p:cNvSpPr>
          <p:nvPr/>
        </p:nvSpPr>
        <p:spPr>
          <a:xfrm>
            <a:off x="1847528" y="0"/>
            <a:ext cx="8460000" cy="97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4400" b="1">
                <a:solidFill>
                  <a:srgbClr val="DA8AA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A4CEDC"/>
                </a:solidFill>
              </a:rPr>
              <a:t>Network models</a:t>
            </a:r>
          </a:p>
        </p:txBody>
      </p:sp>
      <p:sp>
        <p:nvSpPr>
          <p:cNvPr id="3" name="Text Placeholder 2"/>
          <p:cNvSpPr txBox="1">
            <a:spLocks/>
          </p:cNvSpPr>
          <p:nvPr/>
        </p:nvSpPr>
        <p:spPr>
          <a:xfrm>
            <a:off x="1962728" y="1196752"/>
            <a:ext cx="8229600" cy="427765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600" dirty="0"/>
              <a:t>There are two ways of setting up a network to share data and services:</a:t>
            </a:r>
          </a:p>
          <a:p>
            <a:endParaRPr lang="en-GB" sz="2600" dirty="0"/>
          </a:p>
          <a:p>
            <a:pPr marL="457200" lvl="1" indent="0">
              <a:buNone/>
            </a:pPr>
            <a:r>
              <a:rPr lang="en-GB" sz="2600" b="1" dirty="0"/>
              <a:t>1. Client-server</a:t>
            </a:r>
          </a:p>
          <a:p>
            <a:pPr marL="457200" lvl="1" indent="0">
              <a:buNone/>
            </a:pPr>
            <a:r>
              <a:rPr lang="en-GB" sz="2600" b="1" dirty="0"/>
              <a:t>2. Peer-to-peer</a:t>
            </a:r>
          </a:p>
        </p:txBody>
      </p:sp>
    </p:spTree>
    <p:extLst>
      <p:ext uri="{BB962C8B-B14F-4D97-AF65-F5344CB8AC3E}">
        <p14:creationId xmlns:p14="http://schemas.microsoft.com/office/powerpoint/2010/main" val="1626164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EB0390B-57BB-4363-86A2-B7AB175ACB3A}"/>
              </a:ext>
            </a:extLst>
          </p:cNvPr>
          <p:cNvSpPr txBox="1">
            <a:spLocks/>
          </p:cNvSpPr>
          <p:nvPr/>
        </p:nvSpPr>
        <p:spPr>
          <a:xfrm>
            <a:off x="1847528" y="0"/>
            <a:ext cx="8460000" cy="97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4400" b="1">
                <a:solidFill>
                  <a:srgbClr val="DA8AA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A4CEDC"/>
                </a:solidFill>
              </a:rPr>
              <a:t>Client-server</a:t>
            </a:r>
          </a:p>
        </p:txBody>
      </p:sp>
      <p:sp>
        <p:nvSpPr>
          <p:cNvPr id="3" name="Text Placeholder 2"/>
          <p:cNvSpPr txBox="1">
            <a:spLocks/>
          </p:cNvSpPr>
          <p:nvPr/>
        </p:nvSpPr>
        <p:spPr>
          <a:xfrm>
            <a:off x="1962728" y="1196752"/>
            <a:ext cx="8229600" cy="427765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Client-server</a:t>
            </a:r>
          </a:p>
          <a:p>
            <a:pPr lvl="1"/>
            <a:r>
              <a:rPr lang="en-GB" dirty="0"/>
              <a:t>The network relies on a central server.</a:t>
            </a:r>
          </a:p>
          <a:p>
            <a:pPr lvl="1"/>
            <a:r>
              <a:rPr lang="en-GB" dirty="0"/>
              <a:t>All clients (devices) request services from the server (e.g. print services/file services).</a:t>
            </a:r>
          </a:p>
          <a:p>
            <a:pPr lvl="1"/>
            <a:r>
              <a:rPr lang="en-GB" dirty="0"/>
              <a:t>Additional hardware would be needed e.g. high end powerful servers.</a:t>
            </a:r>
          </a:p>
        </p:txBody>
      </p:sp>
    </p:spTree>
    <p:extLst>
      <p:ext uri="{BB962C8B-B14F-4D97-AF65-F5344CB8AC3E}">
        <p14:creationId xmlns:p14="http://schemas.microsoft.com/office/powerpoint/2010/main" val="3273831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EB0390B-57BB-4363-86A2-B7AB175ACB3A}"/>
              </a:ext>
            </a:extLst>
          </p:cNvPr>
          <p:cNvSpPr txBox="1">
            <a:spLocks/>
          </p:cNvSpPr>
          <p:nvPr/>
        </p:nvSpPr>
        <p:spPr>
          <a:xfrm>
            <a:off x="1847528" y="0"/>
            <a:ext cx="8460000" cy="97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4400" b="1">
                <a:solidFill>
                  <a:srgbClr val="DA8AA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A4CEDC"/>
                </a:solidFill>
              </a:rPr>
              <a:t>Peer-to-peer</a:t>
            </a:r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1962728" y="1124744"/>
            <a:ext cx="8229600" cy="427765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Peer-to-peer</a:t>
            </a:r>
          </a:p>
          <a:p>
            <a:pPr lvl="1"/>
            <a:r>
              <a:rPr lang="en-GB" dirty="0"/>
              <a:t>All computers have equal status.</a:t>
            </a:r>
          </a:p>
          <a:p>
            <a:pPr lvl="1"/>
            <a:r>
              <a:rPr lang="en-GB" dirty="0"/>
              <a:t>Each device can act as a client and a server.</a:t>
            </a:r>
          </a:p>
          <a:p>
            <a:pPr lvl="1"/>
            <a:r>
              <a:rPr lang="en-GB" dirty="0"/>
              <a:t>All devices can request and provide network services.</a:t>
            </a:r>
          </a:p>
          <a:p>
            <a:pPr lvl="1"/>
            <a:r>
              <a:rPr lang="en-GB" dirty="0"/>
              <a:t>No additional hardware/software needed to set up this type of network.</a:t>
            </a:r>
          </a:p>
        </p:txBody>
      </p:sp>
    </p:spTree>
    <p:extLst>
      <p:ext uri="{BB962C8B-B14F-4D97-AF65-F5344CB8AC3E}">
        <p14:creationId xmlns:p14="http://schemas.microsoft.com/office/powerpoint/2010/main" val="1689983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EB0390B-57BB-4363-86A2-B7AB175ACB3A}"/>
              </a:ext>
            </a:extLst>
          </p:cNvPr>
          <p:cNvSpPr txBox="1">
            <a:spLocks/>
          </p:cNvSpPr>
          <p:nvPr/>
        </p:nvSpPr>
        <p:spPr>
          <a:xfrm>
            <a:off x="1847528" y="0"/>
            <a:ext cx="8460000" cy="97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4400" b="1">
                <a:solidFill>
                  <a:srgbClr val="DA8AA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A4CEDC"/>
                </a:solidFill>
              </a:rPr>
              <a:t>Activity 2</a:t>
            </a:r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1962728" y="1124744"/>
            <a:ext cx="8229600" cy="427765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Describe which model you think your school uses. </a:t>
            </a:r>
            <a:br>
              <a:rPr lang="en-GB" dirty="0"/>
            </a:br>
            <a:endParaRPr lang="en-GB" dirty="0"/>
          </a:p>
          <a:p>
            <a:r>
              <a:rPr lang="en-GB" dirty="0"/>
              <a:t>Identify which devices are clients, servers or peers depending on your answer.</a:t>
            </a:r>
            <a:br>
              <a:rPr lang="en-GB" dirty="0"/>
            </a:br>
            <a:endParaRPr lang="en-GB" dirty="0"/>
          </a:p>
          <a:p>
            <a:r>
              <a:rPr lang="en-GB" dirty="0"/>
              <a:t>Why do you think the school has chosen this model?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1979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EB0390B-57BB-4363-86A2-B7AB175ACB3A}"/>
              </a:ext>
            </a:extLst>
          </p:cNvPr>
          <p:cNvSpPr txBox="1">
            <a:spLocks/>
          </p:cNvSpPr>
          <p:nvPr/>
        </p:nvSpPr>
        <p:spPr>
          <a:xfrm>
            <a:off x="1847528" y="0"/>
            <a:ext cx="8460000" cy="97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4400" b="1">
                <a:solidFill>
                  <a:srgbClr val="DA8AA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A4CEDC"/>
                </a:solidFill>
              </a:rPr>
              <a:t>Comparison – File management</a:t>
            </a:r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2058944" y="1124744"/>
            <a:ext cx="8229600" cy="427765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All files can be stored centrally on a client-server network:</a:t>
            </a:r>
          </a:p>
          <a:p>
            <a:pPr lvl="1"/>
            <a:r>
              <a:rPr lang="en-GB" dirty="0"/>
              <a:t>workers can access files from any computer</a:t>
            </a:r>
          </a:p>
          <a:p>
            <a:pPr lvl="1"/>
            <a:r>
              <a:rPr lang="en-GB" dirty="0"/>
              <a:t>all computers can update central databases.</a:t>
            </a:r>
          </a:p>
          <a:p>
            <a:r>
              <a:rPr lang="en-GB" dirty="0"/>
              <a:t>On peer-to –peer network all files are stored on their own computers:</a:t>
            </a:r>
          </a:p>
          <a:p>
            <a:pPr lvl="1"/>
            <a:r>
              <a:rPr lang="en-GB" dirty="0"/>
              <a:t>users have to log-in to the same computer every time.</a:t>
            </a:r>
          </a:p>
        </p:txBody>
      </p:sp>
    </p:spTree>
    <p:extLst>
      <p:ext uri="{BB962C8B-B14F-4D97-AF65-F5344CB8AC3E}">
        <p14:creationId xmlns:p14="http://schemas.microsoft.com/office/powerpoint/2010/main" val="1034675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EB0390B-57BB-4363-86A2-B7AB175ACB3A}"/>
              </a:ext>
            </a:extLst>
          </p:cNvPr>
          <p:cNvSpPr txBox="1">
            <a:spLocks/>
          </p:cNvSpPr>
          <p:nvPr/>
        </p:nvSpPr>
        <p:spPr>
          <a:xfrm>
            <a:off x="1847528" y="0"/>
            <a:ext cx="8460000" cy="97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4400" b="1">
                <a:solidFill>
                  <a:srgbClr val="DA8AA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A4CEDC"/>
                </a:solidFill>
              </a:rPr>
              <a:t>Comparison – Backups</a:t>
            </a:r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2077928" y="1196752"/>
            <a:ext cx="8229600" cy="427765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Backups are easily managed on a client-server as these can be done centrally from the File Server:</a:t>
            </a:r>
          </a:p>
          <a:p>
            <a:pPr lvl="1"/>
            <a:r>
              <a:rPr lang="en-GB" dirty="0"/>
              <a:t>all data is backed up in one go</a:t>
            </a:r>
          </a:p>
          <a:p>
            <a:pPr lvl="1"/>
            <a:r>
              <a:rPr lang="en-GB" dirty="0"/>
              <a:t>individual computers do not need to be backed up.</a:t>
            </a:r>
          </a:p>
          <a:p>
            <a:r>
              <a:rPr lang="en-GB" dirty="0"/>
              <a:t>With peer-to-peer all computers are responsible for backing up their own files.</a:t>
            </a:r>
          </a:p>
        </p:txBody>
      </p:sp>
    </p:spTree>
    <p:extLst>
      <p:ext uri="{BB962C8B-B14F-4D97-AF65-F5344CB8AC3E}">
        <p14:creationId xmlns:p14="http://schemas.microsoft.com/office/powerpoint/2010/main" val="1262349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EB0390B-57BB-4363-86A2-B7AB175ACB3A}"/>
              </a:ext>
            </a:extLst>
          </p:cNvPr>
          <p:cNvSpPr txBox="1">
            <a:spLocks/>
          </p:cNvSpPr>
          <p:nvPr/>
        </p:nvSpPr>
        <p:spPr>
          <a:xfrm>
            <a:off x="1847528" y="0"/>
            <a:ext cx="8460000" cy="97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4400" b="1">
                <a:solidFill>
                  <a:srgbClr val="DA8AA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A4CEDC"/>
                </a:solidFill>
              </a:rPr>
              <a:t>Comparison – Security</a:t>
            </a:r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1962728" y="1340768"/>
            <a:ext cx="8229600" cy="427765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Centralised security on client-server – antivirus and firewall can be installed and configured from a central location.</a:t>
            </a:r>
          </a:p>
          <a:p>
            <a:r>
              <a:rPr lang="en-GB" dirty="0"/>
              <a:t>Peer-to-peer – individual security may need to be installed on individual machines.</a:t>
            </a:r>
          </a:p>
        </p:txBody>
      </p:sp>
    </p:spTree>
    <p:extLst>
      <p:ext uri="{BB962C8B-B14F-4D97-AF65-F5344CB8AC3E}">
        <p14:creationId xmlns:p14="http://schemas.microsoft.com/office/powerpoint/2010/main" val="283840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EB0390B-57BB-4363-86A2-B7AB175ACB3A}"/>
              </a:ext>
            </a:extLst>
          </p:cNvPr>
          <p:cNvSpPr txBox="1">
            <a:spLocks/>
          </p:cNvSpPr>
          <p:nvPr/>
        </p:nvSpPr>
        <p:spPr>
          <a:xfrm>
            <a:off x="1847528" y="0"/>
            <a:ext cx="8460000" cy="97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4400" b="1">
                <a:solidFill>
                  <a:srgbClr val="DA8AA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A4CEDC"/>
                </a:solidFill>
              </a:rPr>
              <a:t>Comparison – Traffic</a:t>
            </a:r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2077928" y="1196752"/>
            <a:ext cx="8229600" cy="427765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Peer-to-peer is appropriate for a small number of computers and a low traffic environment.</a:t>
            </a:r>
          </a:p>
          <a:p>
            <a:r>
              <a:rPr lang="en-GB" dirty="0"/>
              <a:t>Client-server is useful for if there are lots of computers and it will be a high traffic environment.</a:t>
            </a:r>
          </a:p>
        </p:txBody>
      </p:sp>
    </p:spTree>
    <p:extLst>
      <p:ext uri="{BB962C8B-B14F-4D97-AF65-F5344CB8AC3E}">
        <p14:creationId xmlns:p14="http://schemas.microsoft.com/office/powerpoint/2010/main" val="1465275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EB0390B-57BB-4363-86A2-B7AB175ACB3A}"/>
              </a:ext>
            </a:extLst>
          </p:cNvPr>
          <p:cNvSpPr txBox="1">
            <a:spLocks/>
          </p:cNvSpPr>
          <p:nvPr/>
        </p:nvSpPr>
        <p:spPr>
          <a:xfrm>
            <a:off x="1847528" y="0"/>
            <a:ext cx="8460000" cy="97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4400" b="1">
                <a:solidFill>
                  <a:srgbClr val="DA8AA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>
                <a:solidFill>
                  <a:srgbClr val="A4CEDC"/>
                </a:solidFill>
              </a:rPr>
              <a:t>Activity 3</a:t>
            </a:r>
            <a:endParaRPr lang="en-US" dirty="0">
              <a:solidFill>
                <a:srgbClr val="A4CEDC"/>
              </a:solidFill>
            </a:endParaRP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1962728" y="1196752"/>
            <a:ext cx="8229600" cy="427765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Complete the worksheet by ticking the correct box(es) to show whether the statements apply to a client-server, a peer-to-peer or to both networks.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2358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EB0390B-57BB-4363-86A2-B7AB175ACB3A}"/>
              </a:ext>
            </a:extLst>
          </p:cNvPr>
          <p:cNvSpPr txBox="1">
            <a:spLocks/>
          </p:cNvSpPr>
          <p:nvPr/>
        </p:nvSpPr>
        <p:spPr>
          <a:xfrm>
            <a:off x="1847528" y="0"/>
            <a:ext cx="8460000" cy="97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4400" b="1">
                <a:solidFill>
                  <a:srgbClr val="DA8AA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A4CEDC"/>
                </a:solidFill>
              </a:rPr>
              <a:t>Plenary</a:t>
            </a:r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1962728" y="1124744"/>
            <a:ext cx="8229600" cy="427765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Write three things you have learnt from today’s lesson and one you don’t understand on a sticky note and post it on the board as you leave the class.</a:t>
            </a:r>
          </a:p>
          <a:p>
            <a:r>
              <a:rPr lang="en-US" dirty="0"/>
              <a:t>Add your name if you want specific help with a task.</a:t>
            </a:r>
          </a:p>
        </p:txBody>
      </p:sp>
    </p:spTree>
    <p:extLst>
      <p:ext uri="{BB962C8B-B14F-4D97-AF65-F5344CB8AC3E}">
        <p14:creationId xmlns:p14="http://schemas.microsoft.com/office/powerpoint/2010/main" val="3670320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0;p40">
            <a:extLst>
              <a:ext uri="{FF2B5EF4-FFF2-40B4-BE49-F238E27FC236}">
                <a16:creationId xmlns:a16="http://schemas.microsoft.com/office/drawing/2014/main" id="{05F3F1AB-8577-A1A7-374A-2F230E8EFF58}"/>
              </a:ext>
            </a:extLst>
          </p:cNvPr>
          <p:cNvSpPr txBox="1">
            <a:spLocks/>
          </p:cNvSpPr>
          <p:nvPr/>
        </p:nvSpPr>
        <p:spPr>
          <a:xfrm>
            <a:off x="414533" y="1356965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/>
              <a:t>In this lesson, you…</a:t>
            </a:r>
          </a:p>
          <a:p>
            <a:r>
              <a:rPr lang="en-GB" b="1" dirty="0"/>
              <a:t>Identified</a:t>
            </a:r>
            <a:r>
              <a:rPr lang="en-GB" dirty="0"/>
              <a:t> the role of a computer in a client–server network</a:t>
            </a:r>
          </a:p>
          <a:p>
            <a:r>
              <a:rPr lang="en-GB" b="1" dirty="0"/>
              <a:t>Described</a:t>
            </a:r>
            <a:r>
              <a:rPr lang="en-GB" dirty="0"/>
              <a:t> the role of a computer in a peer-to-peer network</a:t>
            </a:r>
          </a:p>
          <a:p>
            <a:r>
              <a:rPr lang="en-GB" b="1" dirty="0"/>
              <a:t>Compared</a:t>
            </a:r>
            <a:r>
              <a:rPr lang="en-GB" dirty="0"/>
              <a:t> the advantages and disadvantages of each model</a:t>
            </a:r>
          </a:p>
          <a:p>
            <a:pPr marL="0" indent="0">
              <a:spcBef>
                <a:spcPts val="2133"/>
              </a:spcBef>
              <a:spcAft>
                <a:spcPts val="2133"/>
              </a:spcAft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4" name="Google Shape;471;p40">
            <a:extLst>
              <a:ext uri="{FF2B5EF4-FFF2-40B4-BE49-F238E27FC236}">
                <a16:creationId xmlns:a16="http://schemas.microsoft.com/office/drawing/2014/main" id="{9B0398EB-5900-83B4-143E-B37724ED5F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4533" y="418016"/>
            <a:ext cx="11361600" cy="930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A4CED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Next lesson</a:t>
            </a:r>
            <a:endParaRPr b="1" dirty="0">
              <a:solidFill>
                <a:srgbClr val="A4CED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473;p40">
            <a:extLst>
              <a:ext uri="{FF2B5EF4-FFF2-40B4-BE49-F238E27FC236}">
                <a16:creationId xmlns:a16="http://schemas.microsoft.com/office/drawing/2014/main" id="{45BDA579-EDE2-73A4-5E42-1F8FC60800CE}"/>
              </a:ext>
            </a:extLst>
          </p:cNvPr>
          <p:cNvSpPr txBox="1">
            <a:spLocks/>
          </p:cNvSpPr>
          <p:nvPr/>
        </p:nvSpPr>
        <p:spPr>
          <a:xfrm>
            <a:off x="6315467" y="1356933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/>
              <a:t>Next lesson, you will…</a:t>
            </a:r>
          </a:p>
          <a:p>
            <a:r>
              <a:rPr lang="en-GB" b="1" dirty="0"/>
              <a:t>Explain</a:t>
            </a:r>
            <a:r>
              <a:rPr lang="en-GB" dirty="0"/>
              <a:t> different network topologies</a:t>
            </a:r>
          </a:p>
          <a:p>
            <a:r>
              <a:rPr lang="en-GB" b="1" dirty="0"/>
              <a:t>Illustrate</a:t>
            </a:r>
            <a:r>
              <a:rPr lang="en-GB" dirty="0"/>
              <a:t> how data travels through each topology</a:t>
            </a:r>
          </a:p>
          <a:p>
            <a:r>
              <a:rPr lang="en-GB" b="1" dirty="0"/>
              <a:t>Evaluate</a:t>
            </a:r>
            <a:r>
              <a:rPr lang="en-GB" dirty="0"/>
              <a:t> which topology might suit different scenarios best</a:t>
            </a:r>
          </a:p>
        </p:txBody>
      </p:sp>
    </p:spTree>
    <p:extLst>
      <p:ext uri="{BB962C8B-B14F-4D97-AF65-F5344CB8AC3E}">
        <p14:creationId xmlns:p14="http://schemas.microsoft.com/office/powerpoint/2010/main" val="1627772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1398</TotalTime>
  <Words>950</Words>
  <Application>Microsoft Macintosh PowerPoint</Application>
  <PresentationFormat>Widescreen</PresentationFormat>
  <Paragraphs>128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 lesson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Bilge Acik</dc:creator>
  <cp:lastModifiedBy>Bilge Acik</cp:lastModifiedBy>
  <cp:revision>6</cp:revision>
  <dcterms:created xsi:type="dcterms:W3CDTF">2025-06-27T16:25:50Z</dcterms:created>
  <dcterms:modified xsi:type="dcterms:W3CDTF">2025-06-28T15:43:51Z</dcterms:modified>
</cp:coreProperties>
</file>